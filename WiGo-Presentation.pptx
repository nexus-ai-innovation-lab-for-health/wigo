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75" r:id="rId14"/>
    <p:sldId id="27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712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80960" y="0"/>
            <a:ext cx="4510735" cy="685800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200" b="1">
                <a:solidFill>
                  <a:srgbClr val="E48AAA"/>
                </a:solidFill>
                <a:latin typeface="Calibri"/>
              </a:rPr>
              <a:t>SAÉ 5.Real.01 — PARCOURS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6400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800" b="1">
                <a:solidFill>
                  <a:srgbClr val="FFFFFF"/>
                </a:solidFill>
                <a:latin typeface="Calibri"/>
              </a:rPr>
              <a:t>WiGo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29000"/>
            <a:ext cx="62179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>
                <a:solidFill>
                  <a:srgbClr val="C9C5E0"/>
                </a:solidFill>
                <a:latin typeface="Calibri"/>
              </a:rPr>
              <a:t>Plateforme de dossier patient et d'imagerie médicale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500" b="0">
                <a:solidFill>
                  <a:srgbClr val="A99BE8"/>
                </a:solidFill>
                <a:latin typeface="Calibri"/>
              </a:rPr>
              <a:t>Radiologie DICOM · Biopsie numérique · Aide au diagnostic par IA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892040"/>
            <a:ext cx="2011680" cy="22000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120640"/>
            <a:ext cx="5943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C98B8"/>
                </a:solidFill>
                <a:latin typeface="Calibri"/>
              </a:rPr>
              <a:t>Développement avancé d'une solution informatique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C98B8"/>
                </a:solidFill>
                <a:latin typeface="Calibri"/>
              </a:rPr>
              <a:t>Conception · Développement ·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77440"/>
            <a:ext cx="347472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1">
                <a:solidFill>
                  <a:srgbClr val="E48AAA"/>
                </a:solidFill>
                <a:latin typeface="Calibri"/>
              </a:rPr>
              <a:t>EN CHIFFRES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endParaRPr sz="1100" b="1">
              <a:solidFill>
                <a:srgbClr val="E48AAA"/>
              </a:solidFill>
              <a:latin typeface="Calibri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7 conteneurs orchestrés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18 routes d'API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7 tables métier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~6 600 lignes de code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 visionneuses médicales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00" b="1">
                <a:solidFill>
                  <a:srgbClr val="B84A72"/>
                </a:solidFill>
                <a:latin typeface="Calibri"/>
              </a:rPr>
              <a:t>CADRAGE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2700" b="1">
                <a:solidFill>
                  <a:srgbClr val="1B1A2E"/>
                </a:solidFill>
                <a:latin typeface="Calibri"/>
              </a:rPr>
              <a:t>Objectifs et problématique professionnelle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B7893"/>
                </a:solidFill>
                <a:latin typeface="Calibri"/>
              </a:rPr>
              <a:t>WiGo — SAÉ 5.Real.01 —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B7893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00200"/>
            <a:ext cx="5212080" cy="2011680"/>
          </a:xfrm>
          <a:prstGeom prst="rect">
            <a:avLst/>
          </a:prstGeom>
          <a:solidFill>
            <a:srgbClr val="EC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38000" cy="201168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783080"/>
            <a:ext cx="48006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dirty="0">
                <a:solidFill>
                  <a:srgbClr val="4B3F8F"/>
                </a:solidFill>
                <a:latin typeface="Calibri"/>
              </a:rPr>
              <a:t>La </a:t>
            </a:r>
            <a:r>
              <a:rPr sz="1300" b="1" dirty="0" err="1">
                <a:solidFill>
                  <a:srgbClr val="4B3F8F"/>
                </a:solidFill>
                <a:latin typeface="Calibri"/>
              </a:rPr>
              <a:t>demande</a:t>
            </a:r>
            <a:endParaRPr sz="1300" b="1" dirty="0">
              <a:solidFill>
                <a:srgbClr val="4B3F8F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 err="1">
                <a:solidFill>
                  <a:srgbClr val="4A4762"/>
                </a:solidFill>
                <a:latin typeface="Calibri"/>
              </a:rPr>
              <a:t>Concevoir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en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équipe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une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solution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informatique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complète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 err="1">
                <a:solidFill>
                  <a:srgbClr val="4A4762"/>
                </a:solidFill>
                <a:latin typeface="Calibri"/>
              </a:rPr>
              <a:t>en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démarche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itérative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avec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intégration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continue.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 dirty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 err="1">
                <a:solidFill>
                  <a:srgbClr val="4A4762"/>
                </a:solidFill>
                <a:latin typeface="Calibri"/>
              </a:rPr>
              <a:t>Partir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d'un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besoin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exprimé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de façon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imprécise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, le clarifier,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>
                <a:solidFill>
                  <a:srgbClr val="4A4762"/>
                </a:solidFill>
                <a:latin typeface="Calibri"/>
              </a:rPr>
              <a:t>le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formaliser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,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puis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développer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une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application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communicante</a:t>
            </a:r>
            <a:endParaRPr sz="1150" b="0" dirty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 err="1">
                <a:solidFill>
                  <a:srgbClr val="4A4762"/>
                </a:solidFill>
                <a:latin typeface="Calibri"/>
              </a:rPr>
              <a:t>manipulant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des données et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respectant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les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paradigmes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de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qualité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5212080" cy="2011680"/>
          </a:xfrm>
          <a:prstGeom prst="rect">
            <a:avLst/>
          </a:prstGeom>
          <a:solidFill>
            <a:srgbClr val="F7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600200"/>
            <a:ext cx="38000" cy="2011680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1783080"/>
            <a:ext cx="4800600" cy="13888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dirty="0">
                <a:solidFill>
                  <a:srgbClr val="B84A72"/>
                </a:solidFill>
                <a:latin typeface="Calibri"/>
              </a:rPr>
              <a:t>La </a:t>
            </a:r>
            <a:r>
              <a:rPr sz="1300" b="1" dirty="0" err="1">
                <a:solidFill>
                  <a:srgbClr val="B84A72"/>
                </a:solidFill>
                <a:latin typeface="Calibri"/>
              </a:rPr>
              <a:t>traduction</a:t>
            </a:r>
            <a:r>
              <a:rPr sz="1300" b="1" dirty="0">
                <a:solidFill>
                  <a:srgbClr val="B84A72"/>
                </a:solidFill>
                <a:latin typeface="Calibri"/>
              </a:rPr>
              <a:t> pour WiGo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>
                <a:solidFill>
                  <a:srgbClr val="4A4762"/>
                </a:solidFill>
                <a:latin typeface="Calibri"/>
              </a:rPr>
              <a:t>Le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besoin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initial — « un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outil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pour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visualiser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les images »</a:t>
            </a:r>
            <a:r>
              <a:rPr lang="fr-FR" sz="1150" b="0" dirty="0">
                <a:solidFill>
                  <a:srgbClr val="4A4762"/>
                </a:solidFill>
                <a:latin typeface="Calibri"/>
              </a:rPr>
              <a:t> 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—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recouvrait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en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réalité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trois métiers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distincts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:</a:t>
            </a:r>
          </a:p>
          <a:p>
            <a:pPr marL="171450" indent="-171450" algn="l">
              <a:lnSpc>
                <a:spcPct val="11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150" b="0" dirty="0">
                <a:solidFill>
                  <a:srgbClr val="4A4762"/>
                </a:solidFill>
                <a:latin typeface="Calibri"/>
              </a:rPr>
              <a:t> la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radiologie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et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ses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images DICOM,</a:t>
            </a:r>
          </a:p>
          <a:p>
            <a:pPr marL="171450" indent="-171450" algn="l">
              <a:lnSpc>
                <a:spcPct val="11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150" b="0" dirty="0" err="1">
                <a:solidFill>
                  <a:srgbClr val="4A4762"/>
                </a:solidFill>
                <a:latin typeface="Calibri"/>
              </a:rPr>
              <a:t>l'anatomopathologie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et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ses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lames de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plusieurs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Go,</a:t>
            </a:r>
          </a:p>
          <a:p>
            <a:pPr marL="171450" indent="-171450" algn="l">
              <a:lnSpc>
                <a:spcPct val="11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150" b="0" dirty="0">
                <a:solidFill>
                  <a:srgbClr val="4A4762"/>
                </a:solidFill>
                <a:latin typeface="Calibri"/>
              </a:rPr>
              <a:t>le compte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rendu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structuré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,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encadré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par un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protocole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886200"/>
            <a:ext cx="10698480" cy="2148840"/>
          </a:xfrm>
          <a:prstGeom prst="rect">
            <a:avLst/>
          </a:prstGeom>
          <a:solidFill>
            <a:srgbClr val="EC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0600" y="4377383"/>
            <a:ext cx="10424160" cy="11664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 dirty="0" err="1">
                <a:solidFill>
                  <a:srgbClr val="4B3F8F"/>
                </a:solidFill>
                <a:latin typeface="Calibri"/>
              </a:rPr>
              <a:t>Problématique</a:t>
            </a:r>
            <a:r>
              <a:rPr sz="1500" b="1" dirty="0">
                <a:solidFill>
                  <a:srgbClr val="4B3F8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4B3F8F"/>
                </a:solidFill>
                <a:latin typeface="Calibri"/>
              </a:rPr>
              <a:t>retenue</a:t>
            </a:r>
            <a:endParaRPr sz="1500" b="1" dirty="0">
              <a:solidFill>
                <a:srgbClr val="4B3F8F"/>
              </a:solidFill>
              <a:latin typeface="Calibr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dirty="0">
                <a:solidFill>
                  <a:srgbClr val="1B1A2E"/>
                </a:solidFill>
                <a:latin typeface="Calibri"/>
              </a:rPr>
              <a:t>Comment </a:t>
            </a:r>
            <a:r>
              <a:rPr sz="1500" b="0" dirty="0" err="1">
                <a:solidFill>
                  <a:srgbClr val="1B1A2E"/>
                </a:solidFill>
                <a:latin typeface="Calibri"/>
              </a:rPr>
              <a:t>permettre</a:t>
            </a:r>
            <a:r>
              <a:rPr sz="1500" b="0" dirty="0">
                <a:solidFill>
                  <a:srgbClr val="1B1A2E"/>
                </a:solidFill>
                <a:latin typeface="Calibri"/>
              </a:rPr>
              <a:t> à un </a:t>
            </a:r>
            <a:r>
              <a:rPr sz="1500" b="0" dirty="0" err="1">
                <a:solidFill>
                  <a:srgbClr val="1B1A2E"/>
                </a:solidFill>
                <a:latin typeface="Calibri"/>
              </a:rPr>
              <a:t>pathologiste</a:t>
            </a:r>
            <a:r>
              <a:rPr sz="1500" b="0" dirty="0">
                <a:solidFill>
                  <a:srgbClr val="1B1A2E"/>
                </a:solidFill>
                <a:latin typeface="Calibri"/>
              </a:rPr>
              <a:t> et à un </a:t>
            </a:r>
            <a:r>
              <a:rPr sz="1500" b="0" dirty="0" err="1">
                <a:solidFill>
                  <a:srgbClr val="1B1A2E"/>
                </a:solidFill>
                <a:latin typeface="Calibri"/>
              </a:rPr>
              <a:t>radiologue</a:t>
            </a:r>
            <a:r>
              <a:rPr sz="1500" b="0" dirty="0">
                <a:solidFill>
                  <a:srgbClr val="1B1A2E"/>
                </a:solidFill>
                <a:latin typeface="Calibri"/>
              </a:rPr>
              <a:t> de </a:t>
            </a:r>
            <a:r>
              <a:rPr sz="1500" b="0" dirty="0" err="1">
                <a:solidFill>
                  <a:srgbClr val="1B1A2E"/>
                </a:solidFill>
                <a:latin typeface="Calibri"/>
              </a:rPr>
              <a:t>travailler</a:t>
            </a:r>
            <a:r>
              <a:rPr sz="1500" b="0" dirty="0">
                <a:solidFill>
                  <a:srgbClr val="1B1A2E"/>
                </a:solidFill>
                <a:latin typeface="Calibri"/>
              </a:rPr>
              <a:t> sur les </a:t>
            </a:r>
            <a:r>
              <a:rPr sz="1500" b="0" dirty="0" err="1">
                <a:solidFill>
                  <a:srgbClr val="1B1A2E"/>
                </a:solidFill>
                <a:latin typeface="Calibri"/>
              </a:rPr>
              <a:t>mêmes</a:t>
            </a:r>
            <a:r>
              <a:rPr sz="1500" b="0" dirty="0">
                <a:solidFill>
                  <a:srgbClr val="1B1A2E"/>
                </a:solidFill>
                <a:latin typeface="Calibri"/>
              </a:rPr>
              <a:t> dossiers patients</a:t>
            </a:r>
            <a:r>
              <a:rPr lang="fr-FR" sz="1500" dirty="0">
                <a:solidFill>
                  <a:srgbClr val="1B1A2E"/>
                </a:solidFill>
                <a:latin typeface="Calibri"/>
              </a:rPr>
              <a:t> </a:t>
            </a:r>
            <a:r>
              <a:rPr sz="1500" b="0" dirty="0">
                <a:solidFill>
                  <a:srgbClr val="1B1A2E"/>
                </a:solidFill>
                <a:latin typeface="Calibri"/>
              </a:rPr>
              <a:t>avec des images de nature et de volume </a:t>
            </a:r>
            <a:r>
              <a:rPr sz="1500" b="0" dirty="0" err="1">
                <a:solidFill>
                  <a:srgbClr val="1B1A2E"/>
                </a:solidFill>
                <a:latin typeface="Calibri"/>
              </a:rPr>
              <a:t>radicalement</a:t>
            </a:r>
            <a:r>
              <a:rPr sz="1500" b="0" dirty="0">
                <a:solidFill>
                  <a:srgbClr val="1B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B1A2E"/>
                </a:solidFill>
                <a:latin typeface="Calibri"/>
              </a:rPr>
              <a:t>différents</a:t>
            </a:r>
            <a:r>
              <a:rPr sz="1500" b="0" dirty="0">
                <a:solidFill>
                  <a:srgbClr val="1B1A2E"/>
                </a:solidFill>
                <a:latin typeface="Calibri"/>
              </a:rPr>
              <a:t>, tout </a:t>
            </a:r>
            <a:r>
              <a:rPr sz="1500" b="0" dirty="0" err="1">
                <a:solidFill>
                  <a:srgbClr val="1B1A2E"/>
                </a:solidFill>
                <a:latin typeface="Calibri"/>
              </a:rPr>
              <a:t>en</a:t>
            </a:r>
            <a:r>
              <a:rPr sz="1500" b="0" dirty="0">
                <a:solidFill>
                  <a:srgbClr val="1B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B1A2E"/>
                </a:solidFill>
                <a:latin typeface="Calibri"/>
              </a:rPr>
              <a:t>garantissant</a:t>
            </a:r>
            <a:r>
              <a:rPr sz="1500" b="0" dirty="0">
                <a:solidFill>
                  <a:srgbClr val="1B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B1A2E"/>
                </a:solidFill>
                <a:latin typeface="Calibri"/>
              </a:rPr>
              <a:t>que</a:t>
            </a:r>
            <a:r>
              <a:rPr sz="1500" b="0" dirty="0">
                <a:solidFill>
                  <a:srgbClr val="1B1A2E"/>
                </a:solidFill>
                <a:latin typeface="Calibri"/>
              </a:rPr>
              <a:t> le compte </a:t>
            </a:r>
            <a:r>
              <a:rPr sz="1500" b="0" dirty="0" err="1">
                <a:solidFill>
                  <a:srgbClr val="1B1A2E"/>
                </a:solidFill>
                <a:latin typeface="Calibri"/>
              </a:rPr>
              <a:t>rendu</a:t>
            </a:r>
            <a:r>
              <a:rPr lang="fr-FR" sz="1500" b="0" dirty="0">
                <a:solidFill>
                  <a:srgbClr val="1B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B1A2E"/>
                </a:solidFill>
                <a:latin typeface="Calibri"/>
              </a:rPr>
              <a:t>suive</a:t>
            </a:r>
            <a:r>
              <a:rPr sz="1500" b="0" dirty="0">
                <a:solidFill>
                  <a:srgbClr val="1B1A2E"/>
                </a:solidFill>
                <a:latin typeface="Calibri"/>
              </a:rPr>
              <a:t> un </a:t>
            </a:r>
            <a:r>
              <a:rPr sz="1500" b="0" dirty="0" err="1">
                <a:solidFill>
                  <a:srgbClr val="1B1A2E"/>
                </a:solidFill>
                <a:latin typeface="Calibri"/>
              </a:rPr>
              <a:t>protocole</a:t>
            </a:r>
            <a:r>
              <a:rPr sz="1500" b="0" dirty="0">
                <a:solidFill>
                  <a:srgbClr val="1B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B1A2E"/>
                </a:solidFill>
                <a:latin typeface="Calibri"/>
              </a:rPr>
              <a:t>en</a:t>
            </a:r>
            <a:r>
              <a:rPr sz="1500" b="0" dirty="0">
                <a:solidFill>
                  <a:srgbClr val="1B1A2E"/>
                </a:solidFill>
                <a:latin typeface="Calibri"/>
              </a:rPr>
              <a:t> quatre étapes </a:t>
            </a:r>
            <a:r>
              <a:rPr sz="1500" b="0" dirty="0" err="1">
                <a:solidFill>
                  <a:srgbClr val="1B1A2E"/>
                </a:solidFill>
                <a:latin typeface="Calibri"/>
              </a:rPr>
              <a:t>que</a:t>
            </a:r>
            <a:r>
              <a:rPr sz="1500" b="0" dirty="0">
                <a:solidFill>
                  <a:srgbClr val="1B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B1A2E"/>
                </a:solidFill>
                <a:latin typeface="Calibri"/>
              </a:rPr>
              <a:t>l'application</a:t>
            </a:r>
            <a:r>
              <a:rPr sz="1500" b="0" dirty="0">
                <a:solidFill>
                  <a:srgbClr val="1B1A2E"/>
                </a:solidFill>
                <a:latin typeface="Calibri"/>
              </a:rPr>
              <a:t> fait respecter</a:t>
            </a:r>
            <a:r>
              <a:rPr lang="fr-FR" sz="1500" b="0" dirty="0">
                <a:solidFill>
                  <a:srgbClr val="1B1A2E"/>
                </a:solidFill>
                <a:latin typeface="Calibri"/>
              </a:rPr>
              <a:t> </a:t>
            </a:r>
            <a:r>
              <a:rPr sz="1500" b="0" dirty="0">
                <a:solidFill>
                  <a:srgbClr val="1B1A2E"/>
                </a:solidFill>
                <a:latin typeface="Calibri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00" b="1">
                <a:solidFill>
                  <a:srgbClr val="B84A72"/>
                </a:solidFill>
                <a:latin typeface="Calibri"/>
              </a:rPr>
              <a:t>ANALYSE DU BESOIN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2700" b="1">
                <a:solidFill>
                  <a:srgbClr val="1B1A2E"/>
                </a:solidFill>
                <a:latin typeface="Calibri"/>
              </a:rPr>
              <a:t>Trois contraintes métier structurantes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B7893"/>
                </a:solidFill>
                <a:latin typeface="Calibri"/>
              </a:rPr>
              <a:t>WiGo — SAÉ 5.Real.01 —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B7893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45920"/>
            <a:ext cx="3429000" cy="4023360"/>
          </a:xfrm>
          <a:prstGeom prst="rect">
            <a:avLst/>
          </a:prstGeom>
          <a:solidFill>
            <a:srgbClr val="EC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45920"/>
            <a:ext cx="38000" cy="402336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828800"/>
            <a:ext cx="3017520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4B3F8F"/>
                </a:solidFill>
                <a:latin typeface="Calibri"/>
              </a:rPr>
              <a:t>1 · Volume des images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Une lame de biopsie numérisée (WSI) pèse de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100 Mo à plusieurs gigaoctets.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Impossible à charger dans un navigateur.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→ Pyramide de tuiles DZI générée par PyVips,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  chargée à la demande selon le zoom.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Le fichier source reste dans un stockage objet,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et n'est retéléchargé que pour l'analyse.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645920"/>
            <a:ext cx="3429000" cy="4023360"/>
          </a:xfrm>
          <a:prstGeom prst="rect">
            <a:avLst/>
          </a:prstGeom>
          <a:solidFill>
            <a:srgbClr val="F7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1645920"/>
            <a:ext cx="38000" cy="4023360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1828800"/>
            <a:ext cx="3017520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B84A72"/>
                </a:solidFill>
                <a:latin typeface="Calibri"/>
              </a:rPr>
              <a:t>2 · Deux mondes d'imagerie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La radiologie et l'anatomopathologie n'ont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ni le même format, ni les mêmes outils.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DICOM ↔ Orthanc ↔ Cornerstone.js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WSI ↔ MinIO ↔ OpenSeadragon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→ Deux visionneuses distinctes, un seul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  dossier patient qui les réunit.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Les mesures et annotations sont propres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à chaque modalité.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645920"/>
            <a:ext cx="3291840" cy="4023360"/>
          </a:xfrm>
          <a:prstGeom prst="rect">
            <a:avLst/>
          </a:prstGeom>
          <a:solidFill>
            <a:srgbClr val="EC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645920"/>
            <a:ext cx="38000" cy="402336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1" y="1828800"/>
            <a:ext cx="2880360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4B3F8F"/>
                </a:solidFill>
                <a:latin typeface="Calibri"/>
              </a:rPr>
              <a:t>3 · Protocole imposé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Le compte rendu anatomopathologique suit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quatre étapes obligatoires et ordonnées.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Prélèvement → Préparation →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Microscopie → Diagnostic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→ Un moteur d'étapes côté serveur refuse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  toute transition non validée.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Les formulaires viennent d'OLGA, un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service externe de l'écosystème.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00" b="1">
                <a:solidFill>
                  <a:srgbClr val="B84A72"/>
                </a:solidFill>
                <a:latin typeface="Calibri"/>
              </a:rPr>
              <a:t>SCÉNARIO TYPE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2700" b="1">
                <a:solidFill>
                  <a:srgbClr val="1B1A2E"/>
                </a:solidFill>
                <a:latin typeface="Calibri"/>
              </a:rPr>
              <a:t>Le parcours d'un dossier de biopsie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B7893"/>
                </a:solidFill>
                <a:latin typeface="Calibri"/>
              </a:rPr>
              <a:t>WiGo — SAÉ 5.Real.01 —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B7893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00200"/>
            <a:ext cx="10698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30000" cy="658368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7190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4B3F8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682496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B1A2E"/>
                </a:solidFill>
                <a:latin typeface="Calibri"/>
              </a:rPr>
              <a:t>Création du dossier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70078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Le praticien crée le patient depuis le tableau de bord. Un identifiant de dossier unique est généré.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359152"/>
            <a:ext cx="10698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2359152"/>
            <a:ext cx="30000" cy="658368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247802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B84A72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441448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B1A2E"/>
                </a:solidFill>
                <a:latin typeface="Calibri"/>
              </a:rPr>
              <a:t>Import de la lame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459736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La lame (.svs / .tif) est téléversée : envoi vers le stockage objet, puis tuilage en pyramide DZI.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18104"/>
            <a:ext cx="10698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3118104"/>
            <a:ext cx="30000" cy="658368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32369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4B3F8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20040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B1A2E"/>
                </a:solidFill>
                <a:latin typeface="Calibri"/>
              </a:rPr>
              <a:t>Exploration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218688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La lame s'ouvre dans la visionneuse. Zoom continu, déplacement, annotations partagées entre collègues.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877056"/>
            <a:ext cx="10698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3877056"/>
            <a:ext cx="30000" cy="658368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39959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B84A72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959352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B1A2E"/>
                </a:solidFill>
                <a:latin typeface="Calibri"/>
              </a:rPr>
              <a:t>Extraction d'une zone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977640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Le praticien encadre une région d'intérêt. Elle est découpée et devient un dossier d'analyse autonome.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636008"/>
            <a:ext cx="10698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7240" y="4636008"/>
            <a:ext cx="30000" cy="658368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1560" y="4754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4B3F8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718304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B1A2E"/>
                </a:solidFill>
                <a:latin typeface="Calibri"/>
              </a:rPr>
              <a:t>Analyse assistée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736592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L'IA segmente les noyaux de la zone et restitue densité cellulaire et indice de pléomorphisme.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394960"/>
            <a:ext cx="10698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77240" y="5394960"/>
            <a:ext cx="30000" cy="658368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51560" y="55138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B84A72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5477256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B1A2E"/>
                </a:solidFill>
                <a:latin typeface="Calibri"/>
              </a:rPr>
              <a:t>Compte rendu guidé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549554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Les quatre formulaires se succèdent. Chaque étape est validée et horodatée avant de passer à la suivante.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00" b="1">
                <a:solidFill>
                  <a:srgbClr val="B84A72"/>
                </a:solidFill>
                <a:latin typeface="Calibri"/>
              </a:rPr>
              <a:t>SCÉNARIO TYPE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2700" b="1">
                <a:solidFill>
                  <a:srgbClr val="1B1A2E"/>
                </a:solidFill>
                <a:latin typeface="Calibri"/>
              </a:rPr>
              <a:t>Les acteurs et leurs attentes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B7893"/>
                </a:solidFill>
                <a:latin typeface="Calibri"/>
              </a:rPr>
              <a:t>WiGo — SAÉ 5.Real.01 —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B7893"/>
                </a:solidFill>
                <a:latin typeface="Calibr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45920"/>
            <a:ext cx="2578608" cy="4023360"/>
          </a:xfrm>
          <a:prstGeom prst="rect">
            <a:avLst/>
          </a:prstGeom>
          <a:solidFill>
            <a:srgbClr val="F7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45920"/>
            <a:ext cx="38000" cy="4023360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828800"/>
            <a:ext cx="2167128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B84A72"/>
                </a:solidFill>
                <a:latin typeface="Calibri"/>
              </a:rPr>
              <a:t>Pathologiste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Analyse les lames, pose le diagnostic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et valide le compte rendu.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0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Attend : une lecture fluide malgré le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volume, et un formulaire qui suit le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protocole sans le contraindre à le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mémoriser.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645920"/>
            <a:ext cx="2578608" cy="4023360"/>
          </a:xfrm>
          <a:prstGeom prst="rect">
            <a:avLst/>
          </a:prstGeom>
          <a:solidFill>
            <a:srgbClr val="EC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1645920"/>
            <a:ext cx="38000" cy="402336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30752" y="1828800"/>
            <a:ext cx="2167128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4B3F8F"/>
                </a:solidFill>
                <a:latin typeface="Calibri"/>
              </a:rPr>
              <a:t>Radiologue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Interprète les examens DICOM et rédige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le compte rendu radiologique.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0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Attend : les outils de mesure habituels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(fenêtrage, distances, régions) et la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conservation de ses annotations d'une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session à l'autre.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645920"/>
            <a:ext cx="2578608" cy="4023360"/>
          </a:xfrm>
          <a:prstGeom prst="rect">
            <a:avLst/>
          </a:prstGeom>
          <a:solidFill>
            <a:srgbClr val="EC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645920"/>
            <a:ext cx="38000" cy="402336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2" y="1828800"/>
            <a:ext cx="2167128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4B3F8F"/>
                </a:solidFill>
                <a:latin typeface="Calibri"/>
              </a:rPr>
              <a:t>Technicien de laboratoire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Prépare les blocs, les lames et les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colorations.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0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Attend : renseigner les étapes de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prélèvement et de préparation sans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avoir accès au diagnostic, qui ne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relève pas de son rôle.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645920"/>
            <a:ext cx="2578608" cy="4023360"/>
          </a:xfrm>
          <a:prstGeom prst="rect">
            <a:avLst/>
          </a:prstGeom>
          <a:solidFill>
            <a:srgbClr val="F7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69680" y="1645920"/>
            <a:ext cx="38000" cy="4023360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25712" y="1828800"/>
            <a:ext cx="2167128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B84A72"/>
                </a:solidFill>
                <a:latin typeface="Calibri"/>
              </a:rPr>
              <a:t>Établissement de santé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Porte la responsabilité des données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de santé traitées.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0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Attend : la traçabilité de chaque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validation (qui, quand) et une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architecture capable d'accueillir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une authentification réelle.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00" b="1">
                <a:solidFill>
                  <a:srgbClr val="B84A72"/>
                </a:solidFill>
                <a:latin typeface="Calibri"/>
              </a:rPr>
              <a:t>EXPRESSION DU BESOIN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2700" b="1">
                <a:solidFill>
                  <a:srgbClr val="1B1A2E"/>
                </a:solidFill>
                <a:latin typeface="Calibri"/>
              </a:rPr>
              <a:t>User stories retenues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B7893"/>
                </a:solidFill>
                <a:latin typeface="Calibri"/>
              </a:rPr>
              <a:t>WiGo — SAÉ 5.Real.01 —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B7893"/>
                </a:solidFill>
                <a:latin typeface="Calibr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45920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45920"/>
            <a:ext cx="26000" cy="713232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773936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4B3F8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80136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B1A2E"/>
                </a:solidFill>
                <a:latin typeface="Calibri"/>
              </a:rPr>
              <a:t>Créer un dossier patient et y rattacher ses examens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645920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645920"/>
            <a:ext cx="26000" cy="713232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1773936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B84A72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80136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B1A2E"/>
                </a:solidFill>
                <a:latin typeface="Calibri"/>
              </a:rPr>
              <a:t>Importer une lame de biopsie et l'explorer en zoom continu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487168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2487168"/>
            <a:ext cx="26000" cy="713232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2615184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4B3F8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2642616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B1A2E"/>
                </a:solidFill>
                <a:latin typeface="Calibri"/>
              </a:rPr>
              <a:t>Importer un examen DICOM et le lire avec les outils de mesure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487168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2487168"/>
            <a:ext cx="26000" cy="713232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2615184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B84A72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642616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B1A2E"/>
                </a:solidFill>
                <a:latin typeface="Calibri"/>
              </a:rPr>
              <a:t>Annoter une image et distinguer ses annotations de celles des collègues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328416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3328416"/>
            <a:ext cx="26000" cy="713232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3456432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4B3F8F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483864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B1A2E"/>
                </a:solidFill>
                <a:latin typeface="Calibri"/>
              </a:rPr>
              <a:t>Extraire une région d'intérêt pour en faire un dossier d'analyse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328416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63640" y="3328416"/>
            <a:ext cx="26000" cy="713232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3456432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B84A72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483864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B1A2E"/>
                </a:solidFill>
                <a:latin typeface="Calibri"/>
              </a:rPr>
              <a:t>Obtenir une aide au diagnostic par segmentation des noyaux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169664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77240" y="4169664"/>
            <a:ext cx="26000" cy="713232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51560" y="429768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4B3F8F"/>
                </a:solidFill>
                <a:latin typeface="Calibri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325112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B1A2E"/>
                </a:solidFill>
                <a:latin typeface="Calibri"/>
              </a:rPr>
              <a:t>Renseigner le compte rendu en quatre étapes protocolaires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169664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63640" y="4169664"/>
            <a:ext cx="26000" cy="713232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37960" y="429768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B84A72"/>
                </a:solidFill>
                <a:latin typeface="Calibri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325112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B1A2E"/>
                </a:solidFill>
                <a:latin typeface="Calibri"/>
              </a:rPr>
              <a:t>Reprendre un dossier là où il avait été laissé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010912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77240" y="5010912"/>
            <a:ext cx="26000" cy="713232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51560" y="5138928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4B3F8F"/>
                </a:solidFill>
                <a:latin typeface="Calibri"/>
              </a:rP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54480" y="516636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B1A2E"/>
                </a:solidFill>
                <a:latin typeface="Calibri"/>
              </a:rPr>
              <a:t>Rédiger et conserver un compte rendu radiologique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5010912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63640" y="5010912"/>
            <a:ext cx="26000" cy="713232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37960" y="5138928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B84A72"/>
                </a:solidFill>
                <a:latin typeface="Calibri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516636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B1A2E"/>
                </a:solidFill>
                <a:latin typeface="Calibri"/>
              </a:rPr>
              <a:t>Supprimer un dossier patient et l'ensemble de ses données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00" b="1">
                <a:solidFill>
                  <a:srgbClr val="B84A72"/>
                </a:solidFill>
                <a:latin typeface="Calibri"/>
              </a:rPr>
              <a:t>CONCEPTION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2700" b="1">
                <a:solidFill>
                  <a:srgbClr val="1B1A2E"/>
                </a:solidFill>
                <a:latin typeface="Calibri"/>
              </a:rPr>
              <a:t>Architecture de la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B7893"/>
                </a:solidFill>
                <a:latin typeface="Calibri"/>
              </a:rPr>
              <a:t>WiGo — SAÉ 5.Real.01 —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B7893"/>
                </a:solidFill>
                <a:latin typeface="Calibr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00200"/>
            <a:ext cx="10698480" cy="1051560"/>
          </a:xfrm>
          <a:prstGeom prst="rect">
            <a:avLst/>
          </a:prstGeom>
          <a:solidFill>
            <a:srgbClr val="F7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75564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B84A72"/>
                </a:solidFill>
                <a:latin typeface="Calibri"/>
              </a:rPr>
              <a:t>PRÉSENTATION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5740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B1A2E"/>
                </a:solidFill>
                <a:latin typeface="Calibri"/>
              </a:rPr>
              <a:t>React 19 · TypeScript · Vite · Tailwind    |    Cornerstone.js (DICOM)    |    OpenSeadragon (lames)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88920"/>
            <a:ext cx="10698480" cy="1051560"/>
          </a:xfrm>
          <a:prstGeom prst="rect">
            <a:avLst/>
          </a:prstGeom>
          <a:solidFill>
            <a:srgbClr val="EC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9443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4B3F8F"/>
                </a:solidFill>
                <a:latin typeface="Calibri"/>
              </a:rPr>
              <a:t>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24612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B1A2E"/>
                </a:solidFill>
                <a:latin typeface="Calibri"/>
              </a:rPr>
              <a:t>FastAPI (port 8002) · 18 routes · SQLAlchemy 2 · Pydantic 2    |    Moteur de workflow isolé (routeur / service / schémas)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977639"/>
            <a:ext cx="10698480" cy="1234440"/>
          </a:xfrm>
          <a:prstGeom prst="rect">
            <a:avLst/>
          </a:prstGeom>
          <a:solidFill>
            <a:srgbClr val="EF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133087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4A4762"/>
                </a:solidFill>
                <a:latin typeface="Calibri"/>
              </a:rPr>
              <a:t>PERSISTANCE ET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462272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4B3F8F"/>
                </a:solidFill>
                <a:latin typeface="Calibri"/>
              </a:rPr>
              <a:t>PostgreSQL 15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A4762"/>
                </a:solidFill>
                <a:latin typeface="Calibri"/>
              </a:rPr>
              <a:t>7 tables métier
Alembic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6391" y="4462272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4B3F8F"/>
                </a:solidFill>
                <a:latin typeface="Calibri"/>
              </a:rPr>
              <a:t>MinIO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A4762"/>
                </a:solidFill>
                <a:latin typeface="Calibri"/>
              </a:rPr>
              <a:t>Lames sources
Extractions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2" y="4462272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4B3F8F"/>
                </a:solidFill>
                <a:latin typeface="Calibri"/>
              </a:rPr>
              <a:t>Orthanc 1.12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A4762"/>
                </a:solidFill>
                <a:latin typeface="Calibri"/>
              </a:rPr>
              <a:t>PACS DICOM
HTTP + port 4242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3" y="4462272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4B3F8F"/>
                </a:solidFill>
                <a:latin typeface="Calibri"/>
              </a:rPr>
              <a:t>Disque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A4762"/>
                </a:solidFill>
                <a:latin typeface="Calibri"/>
              </a:rPr>
              <a:t>Tuiles DZI
servies en statique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4" y="4462272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4B3F8F"/>
                </a:solidFill>
                <a:latin typeface="Calibri"/>
              </a:rPr>
              <a:t>InstanSeg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A4762"/>
                </a:solidFill>
                <a:latin typeface="Calibri"/>
              </a:rPr>
              <a:t>Segmentation
de noyaux (PyTorch)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349240"/>
            <a:ext cx="1069848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8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548640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B84A72"/>
                </a:solidFill>
                <a:latin typeface="Calibri"/>
              </a:rPr>
              <a:t>SERVICE EXTERNE — OLGA (port 9091)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A4762"/>
                </a:solidFill>
                <a:latin typeface="Calibri"/>
              </a:rPr>
              <a:t>Fournit la définition des formulaires. WiGo traduit son format propriétaire en JSON Schema, et garde la maîtrise de l'ordre des étapes, de la validation et de la persistance.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00" b="1">
                <a:solidFill>
                  <a:srgbClr val="B84A72"/>
                </a:solidFill>
                <a:latin typeface="Calibri"/>
              </a:rPr>
              <a:t>CONCEPTION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2700" b="1">
                <a:solidFill>
                  <a:srgbClr val="1B1A2E"/>
                </a:solidFill>
                <a:latin typeface="Calibri"/>
              </a:rPr>
              <a:t>Choix techniques et justification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B7893"/>
                </a:solidFill>
                <a:latin typeface="Calibri"/>
              </a:rPr>
              <a:t>WiGo — SAÉ 5.Real.01 —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B7893"/>
                </a:solidFill>
                <a:latin typeface="Calibr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572768"/>
            <a:ext cx="10698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6916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4B3F8F"/>
                </a:solidFill>
                <a:latin typeface="Calibri"/>
              </a:rPr>
              <a:t>Orthanc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70992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B84A72"/>
                </a:solidFill>
                <a:latin typeface="Calibri"/>
              </a:rPr>
              <a:t>Serveur PACS DICOM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709928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Standard du domaine, API REST, conteneurisé. Évite de réimplémenter le protocole DICOM.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157984"/>
            <a:ext cx="10698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27685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4B3F8F"/>
                </a:solidFill>
                <a:latin typeface="Calibri"/>
              </a:rPr>
              <a:t>Cornerstone.js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29514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B84A72"/>
                </a:solidFill>
                <a:latin typeface="Calibri"/>
              </a:rPr>
              <a:t>Visionneuse DICOM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295144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Fenêtrage, mesures, régions d'intérêt : les gestes attendus par un radiologue.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743200"/>
            <a:ext cx="10698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286207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4B3F8F"/>
                </a:solidFill>
                <a:latin typeface="Calibri"/>
              </a:rPr>
              <a:t>PyVips + DZI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8803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B84A72"/>
                </a:solidFill>
                <a:latin typeface="Calibri"/>
              </a:rPr>
              <a:t>Tuilage des lames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88036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Traite des images de plusieurs Go en flux, sans les charger en mémoire.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328416"/>
            <a:ext cx="10698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44728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4B3F8F"/>
                </a:solidFill>
                <a:latin typeface="Calibri"/>
              </a:rPr>
              <a:t>OpenSeadragon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465576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B84A72"/>
                </a:solidFill>
                <a:latin typeface="Calibri"/>
              </a:rPr>
              <a:t>Visionneuse de lames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465576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Zoom continu sur pyramide de tuiles, référence du domaine WSI.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913632"/>
            <a:ext cx="10698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403250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4B3F8F"/>
                </a:solidFill>
                <a:latin typeface="Calibri"/>
              </a:rPr>
              <a:t>MinIO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05079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B84A72"/>
                </a:solidFill>
                <a:latin typeface="Calibri"/>
              </a:rPr>
              <a:t>Stockage objet S3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050792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Sépare les fichiers volumineux de la base ; compatible S3 pour un futur hébergement.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498848"/>
            <a:ext cx="10698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46177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4B3F8F"/>
                </a:solidFill>
                <a:latin typeface="Calibri"/>
              </a:rPr>
              <a:t>InstanSeg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63600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B84A72"/>
                </a:solidFill>
                <a:latin typeface="Calibri"/>
              </a:rPr>
              <a:t>Segmentation de noyaux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4636008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Modèle spécialisé en histologie, isolé dans son propre service pour ne pas alourdir l'API.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5084064"/>
            <a:ext cx="10698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5840" y="520293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4B3F8F"/>
                </a:solidFill>
                <a:latin typeface="Calibri"/>
              </a:rPr>
              <a:t>PostgreSQL + Alembic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22122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B84A72"/>
                </a:solidFill>
                <a:latin typeface="Calibri"/>
              </a:rPr>
              <a:t>Données structurées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221224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Migrations versionnées : indispensable dès qu'un schéma évolue en production.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669280"/>
            <a:ext cx="10698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" y="578815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4B3F8F"/>
                </a:solidFill>
                <a:latin typeface="Calibri"/>
              </a:rPr>
              <a:t>JSON Schema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80644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B84A72"/>
                </a:solidFill>
                <a:latin typeface="Calibri"/>
              </a:rPr>
              <a:t>Contrat des formulaires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580644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Standard : la même définition valide côté client et côté serveur.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00" b="1">
                <a:solidFill>
                  <a:srgbClr val="B84A72"/>
                </a:solidFill>
                <a:latin typeface="Calibri"/>
              </a:rPr>
              <a:t>CONCEPTION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2700" b="1">
                <a:solidFill>
                  <a:srgbClr val="1B1A2E"/>
                </a:solidFill>
                <a:latin typeface="Calibri"/>
              </a:rPr>
              <a:t>Modèle de données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B7893"/>
                </a:solidFill>
                <a:latin typeface="Calibri"/>
              </a:rPr>
              <a:t>WiGo — SAÉ 5.Real.01 —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B7893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A4762"/>
                </a:solidFill>
                <a:latin typeface="Calibri"/>
              </a:rPr>
              <a:t>Sept tables métier, plus la table de versionnement d'Alembic.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03120"/>
            <a:ext cx="292608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4B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2926080" cy="347472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217627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patients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57860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identité, dossier,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antécédents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103120"/>
            <a:ext cx="292608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4B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931920" y="2103120"/>
            <a:ext cx="2926080" cy="347472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96512" y="217627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biopsies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6512" y="257860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lame numérisée,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chemin des tuiles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2103120"/>
            <a:ext cx="292608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4B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86600" y="2103120"/>
            <a:ext cx="2926080" cy="347472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51192" y="217627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radiology_studies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257860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étude DICOM,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compte rendu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566160"/>
            <a:ext cx="292608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B8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3566160"/>
            <a:ext cx="2926080" cy="347472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" y="363931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extractions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404164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région d'intérêt,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formulaire à plat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3566160"/>
            <a:ext cx="292608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B8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931920" y="3566160"/>
            <a:ext cx="2926080" cy="347472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96512" y="363931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drawings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6512" y="404164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annotations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géométriques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3566160"/>
            <a:ext cx="292608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B8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86600" y="3566160"/>
            <a:ext cx="2926080" cy="347472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51192" y="363931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workflow_states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1192" y="404164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étape courante,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date d'achèvement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029200"/>
            <a:ext cx="365760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B8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77240" y="5029200"/>
            <a:ext cx="3657600" cy="347472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1832" y="510235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workflow_step_states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" y="5504688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données JSONB par étape,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validation et auteur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5029200"/>
            <a:ext cx="6812280" cy="1143000"/>
          </a:xfrm>
          <a:prstGeom prst="rect">
            <a:avLst/>
          </a:prstGeom>
          <a:solidFill>
            <a:srgbClr val="F7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663440" y="5029200"/>
            <a:ext cx="38000" cy="1143000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19472" y="5212080"/>
            <a:ext cx="6400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B84A72"/>
                </a:solidFill>
                <a:latin typeface="Calibri"/>
              </a:rPr>
              <a:t>Un choix de conception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Le suivi du workflow occupe deux tables dédiées plutôt que des colonnes ajoutées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à `extractions` : les données de chaque étape sont stockées en JSONB, ce qui permet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de conserver un champ ajouté côté OLGA même sans colonne correspondante.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00" b="1">
                <a:solidFill>
                  <a:srgbClr val="B84A72"/>
                </a:solidFill>
                <a:latin typeface="Calibri"/>
              </a:rPr>
              <a:t>RÉALISATION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2700" b="1">
                <a:solidFill>
                  <a:srgbClr val="1B1A2E"/>
                </a:solidFill>
                <a:latin typeface="Calibri"/>
              </a:rPr>
              <a:t>Module Radiologie · imagerie DICOM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B7893"/>
                </a:solidFill>
                <a:latin typeface="Calibri"/>
              </a:rPr>
              <a:t>WiGo — SAÉ 5.Real.01 —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B7893"/>
                </a:solidFill>
                <a:latin typeface="Calibr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45920"/>
            <a:ext cx="5212080" cy="1965960"/>
          </a:xfrm>
          <a:prstGeom prst="rect">
            <a:avLst/>
          </a:prstGeom>
          <a:solidFill>
            <a:srgbClr val="EC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45920"/>
            <a:ext cx="38000" cy="196596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828800"/>
            <a:ext cx="480060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4B3F8F"/>
                </a:solidFill>
                <a:latin typeface="Calibri"/>
              </a:rPr>
              <a:t>Chaîne de traitement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Import d'un fichier .dcm depuis l'interface.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Le backend le relaie à Orthanc, qui l'indexe et retourne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les identifiants d'étude, de série et d'instance.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Les métadonnées réelles (modalité, date, patient) sont lues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sur le PACS : rien n'est saisi à la main.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45920"/>
            <a:ext cx="5212080" cy="1965960"/>
          </a:xfrm>
          <a:prstGeom prst="rect">
            <a:avLst/>
          </a:prstGeom>
          <a:solidFill>
            <a:srgbClr val="F7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645920"/>
            <a:ext cx="38000" cy="1965960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1828800"/>
            <a:ext cx="480060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B84A72"/>
                </a:solidFill>
                <a:latin typeface="Calibri"/>
              </a:rPr>
              <a:t>Visionneuse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Cornerstone.js affiche l'image via le protocole WADO-URI,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à travers un proxy vers Orthanc.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Huit outils : fenêtrage, déplacement, zoom, mesure de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distance, régions rectangulaire et elliptique, annotation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fléchée, gomme.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886200"/>
            <a:ext cx="10698480" cy="2103120"/>
          </a:xfrm>
          <a:prstGeom prst="rect">
            <a:avLst/>
          </a:prstGeom>
          <a:solidFill>
            <a:srgbClr val="EC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3886200"/>
            <a:ext cx="38000" cy="210312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3272" y="4069080"/>
            <a:ext cx="102870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4B3F8F"/>
                </a:solidFill>
                <a:latin typeface="Calibri"/>
              </a:rPr>
              <a:t>Compte rendu et export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Le compte rendu est saisi en regard de l'image et enregistré avec les annotations sérialisées.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L'export PDF reprend l'identité du dossier, la date et les observations.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Difficulté rencontrée — Orthanc n'expose pas l'identifiant d'étude au même endroit selon l'appel : il figure dans la réponse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à l'import, mais pas dans le détail d'une instance. L'import échouait systématiquement tant que cette distinction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n'était pas comprise. La modalité, elle, se lit au niveau de la série, et la date au niveau de l'étude.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00" b="1">
                <a:solidFill>
                  <a:srgbClr val="B84A72"/>
                </a:solidFill>
                <a:latin typeface="Calibri"/>
              </a:rPr>
              <a:t>RÉALISATION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2700" b="1">
                <a:solidFill>
                  <a:srgbClr val="1B1A2E"/>
                </a:solidFill>
                <a:latin typeface="Calibri"/>
              </a:rPr>
              <a:t>Module Biopsie · lames numérisées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B7893"/>
                </a:solidFill>
                <a:latin typeface="Calibri"/>
              </a:rPr>
              <a:t>WiGo — SAÉ 5.Real.01 —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B7893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4B3F8F"/>
                </a:solidFill>
                <a:latin typeface="Calibri"/>
              </a:rPr>
              <a:t>Du fichier source à l'affichage : quatre transformations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011680"/>
            <a:ext cx="1965960" cy="1600200"/>
          </a:xfrm>
          <a:prstGeom prst="rect">
            <a:avLst/>
          </a:prstGeom>
          <a:solidFill>
            <a:srgbClr val="FFFFFF"/>
          </a:solidFill>
          <a:ln w="16510">
            <a:solidFill>
              <a:srgbClr val="4B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176272"/>
            <a:ext cx="1691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4B3F8F"/>
                </a:solidFill>
                <a:latin typeface="Calibri"/>
              </a:rPr>
              <a:t>Fichier source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1B1A2E"/>
                </a:solidFill>
                <a:latin typeface="Calibri"/>
              </a:rPr>
              <a:t>100 Mo à
plusieurs Go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7B7893"/>
                </a:solidFill>
                <a:latin typeface="Calibri"/>
              </a:rPr>
              <a:t>.svs / .tif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26060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B7893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2011680"/>
            <a:ext cx="1965960" cy="1600200"/>
          </a:xfrm>
          <a:prstGeom prst="rect">
            <a:avLst/>
          </a:prstGeom>
          <a:solidFill>
            <a:srgbClr val="FFFFFF"/>
          </a:solidFill>
          <a:ln w="16510">
            <a:solidFill>
              <a:srgbClr val="B8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36392" y="2176272"/>
            <a:ext cx="1691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B84A72"/>
                </a:solidFill>
                <a:latin typeface="Calibri"/>
              </a:rPr>
              <a:t>Stockage objet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1B1A2E"/>
                </a:solidFill>
                <a:latin typeface="Calibri"/>
              </a:rPr>
              <a:t>Conservé intact
dans MinIO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7B7893"/>
                </a:solidFill>
                <a:latin typeface="Calibri"/>
              </a:rPr>
              <a:t>sous le dossier
du patient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192" y="26060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B7893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2011680"/>
            <a:ext cx="1965960" cy="1600200"/>
          </a:xfrm>
          <a:prstGeom prst="rect">
            <a:avLst/>
          </a:prstGeom>
          <a:solidFill>
            <a:srgbClr val="FFFFFF"/>
          </a:solidFill>
          <a:ln w="16510">
            <a:solidFill>
              <a:srgbClr val="4B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30952" y="2176272"/>
            <a:ext cx="1691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4B3F8F"/>
                </a:solidFill>
                <a:latin typeface="Calibri"/>
              </a:rPr>
              <a:t>Tuilage PyVips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1B1A2E"/>
                </a:solidFill>
                <a:latin typeface="Calibri"/>
              </a:rPr>
              <a:t>Pyramide DZI
tuiles de 256 px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7B7893"/>
                </a:solidFill>
                <a:latin typeface="Calibri"/>
              </a:rPr>
              <a:t>traitement
en flux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26060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B7893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2011680"/>
            <a:ext cx="1965960" cy="1600200"/>
          </a:xfrm>
          <a:prstGeom prst="rect">
            <a:avLst/>
          </a:prstGeom>
          <a:solidFill>
            <a:srgbClr val="FFFFFF"/>
          </a:solidFill>
          <a:ln w="16510">
            <a:solidFill>
              <a:srgbClr val="B8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25512" y="2176272"/>
            <a:ext cx="1691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B84A72"/>
                </a:solidFill>
                <a:latin typeface="Calibri"/>
              </a:rPr>
              <a:t>Service statique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1B1A2E"/>
                </a:solidFill>
                <a:latin typeface="Calibri"/>
              </a:rPr>
              <a:t>Tuiles servies
à la demande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7B7893"/>
                </a:solidFill>
                <a:latin typeface="Calibri"/>
              </a:rPr>
              <a:t>selon le niveau
de zoom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2" y="26060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B7893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55480" y="2011680"/>
            <a:ext cx="1965960" cy="1600200"/>
          </a:xfrm>
          <a:prstGeom prst="rect">
            <a:avLst/>
          </a:prstGeom>
          <a:solidFill>
            <a:srgbClr val="FFFFFF"/>
          </a:solidFill>
          <a:ln w="16510">
            <a:solidFill>
              <a:srgbClr val="4B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20072" y="2176272"/>
            <a:ext cx="1691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4B3F8F"/>
                </a:solidFill>
                <a:latin typeface="Calibri"/>
              </a:rPr>
              <a:t>OpenSeadragon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1B1A2E"/>
                </a:solidFill>
                <a:latin typeface="Calibri"/>
              </a:rPr>
              <a:t>Zoom continu
et annotations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7B7893"/>
                </a:solidFill>
                <a:latin typeface="Calibri"/>
              </a:rPr>
              <a:t>calque SVG
superposé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931920"/>
            <a:ext cx="5212080" cy="2057400"/>
          </a:xfrm>
          <a:prstGeom prst="rect">
            <a:avLst/>
          </a:prstGeom>
          <a:solidFill>
            <a:srgbClr val="EC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3931920"/>
            <a:ext cx="38000" cy="205740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6607" y="3956836"/>
            <a:ext cx="4800600" cy="1941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dirty="0">
                <a:solidFill>
                  <a:srgbClr val="4B3F8F"/>
                </a:solidFill>
                <a:latin typeface="Calibri"/>
              </a:rPr>
              <a:t>Annotation collaborative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>
                <a:solidFill>
                  <a:srgbClr val="4A4762"/>
                </a:solidFill>
                <a:latin typeface="Calibri"/>
              </a:rPr>
              <a:t>Rectangles, cercles,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polygones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et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libellés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,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dessinés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sur un calque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>
                <a:solidFill>
                  <a:srgbClr val="4A4762"/>
                </a:solidFill>
                <a:latin typeface="Calibri"/>
              </a:rPr>
              <a:t>SVG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aligné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sur les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coordonnées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de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l'image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.</a:t>
            </a:r>
            <a:endParaRPr lang="fr-FR" sz="900" dirty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300" b="0" dirty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 err="1">
                <a:solidFill>
                  <a:srgbClr val="4A4762"/>
                </a:solidFill>
                <a:latin typeface="Calibri"/>
              </a:rPr>
              <a:t>Chaque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tracé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porte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son auteur : les annotations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personnelles</a:t>
            </a:r>
            <a:endParaRPr sz="1150" b="0" dirty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 err="1">
                <a:solidFill>
                  <a:srgbClr val="4A4762"/>
                </a:solidFill>
                <a:latin typeface="Calibri"/>
              </a:rPr>
              <a:t>apparaissent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en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vert,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celles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des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collègues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en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orange.</a:t>
            </a:r>
            <a:endParaRPr lang="fr-FR" sz="1150" b="0" dirty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600" b="0" dirty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>
                <a:solidFill>
                  <a:srgbClr val="4A4762"/>
                </a:solidFill>
                <a:latin typeface="Calibri"/>
              </a:rPr>
              <a:t>Une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région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encadrée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devient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une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extraction :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elle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est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découpée</a:t>
            </a:r>
            <a:endParaRPr sz="1150" b="0" dirty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 err="1">
                <a:solidFill>
                  <a:srgbClr val="4A4762"/>
                </a:solidFill>
                <a:latin typeface="Calibri"/>
              </a:rPr>
              <a:t>en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TIFF pyramidal et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constitue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un dossier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d'analyse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autonome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212080" cy="2057400"/>
          </a:xfrm>
          <a:prstGeom prst="rect">
            <a:avLst/>
          </a:prstGeom>
          <a:solidFill>
            <a:srgbClr val="F7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38000" cy="2057400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54793" y="3991004"/>
            <a:ext cx="4800600" cy="1991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dirty="0" err="1">
                <a:solidFill>
                  <a:srgbClr val="B84A72"/>
                </a:solidFill>
                <a:latin typeface="Calibri"/>
              </a:rPr>
              <a:t>Difficulté</a:t>
            </a:r>
            <a:r>
              <a:rPr sz="1300" b="1" dirty="0">
                <a:solidFill>
                  <a:srgbClr val="B84A72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B84A72"/>
                </a:solidFill>
                <a:latin typeface="Calibri"/>
              </a:rPr>
              <a:t>rencontrée</a:t>
            </a:r>
            <a:endParaRPr sz="1300" b="1" dirty="0">
              <a:solidFill>
                <a:srgbClr val="B84A7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>
                <a:solidFill>
                  <a:srgbClr val="4A4762"/>
                </a:solidFill>
                <a:latin typeface="Calibri"/>
              </a:rPr>
              <a:t>Deux dispositions de stockage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coexistaient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dans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MinIO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: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celle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du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>
                <a:solidFill>
                  <a:srgbClr val="4A4762"/>
                </a:solidFill>
                <a:latin typeface="Calibri"/>
              </a:rPr>
              <a:t>script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d'amorçage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, à la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racine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du bucket, et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celle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des imports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 err="1">
                <a:solidFill>
                  <a:srgbClr val="4A4762"/>
                </a:solidFill>
                <a:latin typeface="Calibri"/>
              </a:rPr>
              <a:t>applicatifs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, sous le dossier du patient.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700" b="0" dirty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 err="1">
                <a:solidFill>
                  <a:srgbClr val="4A4762"/>
                </a:solidFill>
                <a:latin typeface="Calibri"/>
              </a:rPr>
              <a:t>L'extraction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échouait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pour trois patients sur quatre.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300" b="0" dirty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 err="1">
                <a:solidFill>
                  <a:srgbClr val="4A4762"/>
                </a:solidFill>
                <a:latin typeface="Calibri"/>
              </a:rPr>
              <a:t>Résolu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par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une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fonction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de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résolution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qui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essaie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les emplacements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>
                <a:solidFill>
                  <a:srgbClr val="4A4762"/>
                </a:solidFill>
                <a:latin typeface="Calibri"/>
              </a:rPr>
              <a:t>du plus précis au plus large, et par la </a:t>
            </a:r>
            <a:r>
              <a:rPr sz="1150" b="0" dirty="0" err="1">
                <a:solidFill>
                  <a:srgbClr val="4A4762"/>
                </a:solidFill>
                <a:latin typeface="Calibri"/>
              </a:rPr>
              <a:t>réécriture</a:t>
            </a:r>
            <a:r>
              <a:rPr sz="1150" b="0" dirty="0">
                <a:solidFill>
                  <a:srgbClr val="4A4762"/>
                </a:solidFill>
                <a:latin typeface="Calibri"/>
              </a:rPr>
              <a:t> du script.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00" b="1">
                <a:solidFill>
                  <a:srgbClr val="B84A72"/>
                </a:solidFill>
                <a:latin typeface="Calibri"/>
              </a:rPr>
              <a:t>RÉALISATION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2700" b="1">
                <a:solidFill>
                  <a:srgbClr val="1B1A2E"/>
                </a:solidFill>
                <a:latin typeface="Calibri"/>
              </a:rPr>
              <a:t>Module d'aide au diagnostic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B7893"/>
                </a:solidFill>
                <a:latin typeface="Calibri"/>
              </a:rPr>
              <a:t>WiGo — SAÉ 5.Real.01 —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B7893"/>
                </a:solidFill>
                <a:latin typeface="Calibr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45920"/>
            <a:ext cx="3383280" cy="4023360"/>
          </a:xfrm>
          <a:prstGeom prst="rect">
            <a:avLst/>
          </a:prstGeom>
          <a:solidFill>
            <a:srgbClr val="EC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45920"/>
            <a:ext cx="38000" cy="402336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828800"/>
            <a:ext cx="2971800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4B3F8F"/>
                </a:solidFill>
                <a:latin typeface="Calibri"/>
              </a:rPr>
              <a:t>Le service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InstanSeg, modèle de segmentation d'instances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spécialisé en histologie.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Isolé dans son propre conteneur avec PyTorch,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exposé en HTTP sur le port 7000.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Ce choix évite d'embarquer PyTorch dans l'API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métier — l'image du backend est ainsi passée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de 15 Go à 1,7 Go.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Le backend n'en est que le client HTTP.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645920"/>
            <a:ext cx="3383280" cy="4023360"/>
          </a:xfrm>
          <a:prstGeom prst="rect">
            <a:avLst/>
          </a:prstGeom>
          <a:solidFill>
            <a:srgbClr val="F7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645920"/>
            <a:ext cx="38000" cy="4023360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1828800"/>
            <a:ext cx="2971800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B84A72"/>
                </a:solidFill>
                <a:latin typeface="Calibri"/>
              </a:rPr>
              <a:t>Le traitement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La région sélectionnée est extraite de la lame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source, bornée à 1500 × 1500 pixels.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Elle est encodée puis transmise au service,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qui renvoie les instances détectées : surface,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centroïde, boîte englobante et contour.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Les contours sont retranslatés dans le repère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de l'image et superposés à la lame.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645920"/>
            <a:ext cx="3383280" cy="4023360"/>
          </a:xfrm>
          <a:prstGeom prst="rect">
            <a:avLst/>
          </a:prstGeom>
          <a:solidFill>
            <a:srgbClr val="EC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645920"/>
            <a:ext cx="38000" cy="402336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8472" y="1828800"/>
            <a:ext cx="2971800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4B3F8F"/>
                </a:solidFill>
                <a:latin typeface="Calibri"/>
              </a:rPr>
              <a:t>Les indicateurs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Densité cellulaire — nombre de noyaux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rapporté à la surface analysée.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Taille moyenne des noyaux.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Indice de pléomorphisme — dispersion des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tailles, indicateur d'atypie cellulaire.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4A476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Ces valeurs sont une aide à la lecture.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Le diagnostic reste posé par le praticien,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4A4762"/>
                </a:solidFill>
                <a:latin typeface="Calibri"/>
              </a:rPr>
              <a:t>qui seul valide l'étape correspondante.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00" b="1">
                <a:solidFill>
                  <a:srgbClr val="B84A72"/>
                </a:solidFill>
                <a:latin typeface="Calibri"/>
              </a:rPr>
              <a:t>ANALYSE CRITIQUE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2700" b="1">
                <a:solidFill>
                  <a:srgbClr val="1B1A2E"/>
                </a:solidFill>
                <a:latin typeface="Calibri"/>
              </a:rPr>
              <a:t>Limites assumées et travaux restants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B7893"/>
                </a:solidFill>
                <a:latin typeface="Calibri"/>
              </a:rPr>
              <a:t>WiGo — SAÉ 5.Real.01 —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B7893"/>
                </a:solidFill>
                <a:latin typeface="Calibr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00200"/>
            <a:ext cx="10698480" cy="1371600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38000" cy="13716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83080"/>
            <a:ext cx="10149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B3261E"/>
                </a:solidFill>
                <a:latin typeface="Calibri"/>
              </a:rPr>
              <a:t>Limite principale : l'authentification n'est pas implémentée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>
                <a:solidFill>
                  <a:srgbClr val="1B1A2E"/>
                </a:solidFill>
                <a:latin typeface="Calibri"/>
              </a:rPr>
              <a:t>L'identité de l'utilisateur provient du stockage local du navigateur et n'est vérifiée par aucun service. La signature enregistrée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>
                <a:solidFill>
                  <a:srgbClr val="1B1A2E"/>
                </a:solidFill>
                <a:latin typeface="Calibri"/>
              </a:rPr>
              <a:t>à chaque validation d'étape est donc falsifiable. Tant que ce point n'est pas traité, la traçabilité n'a pas de valeur médico-légale,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1B1A2E"/>
                </a:solidFill>
                <a:latin typeface="Calibri"/>
              </a:rPr>
              <a:t>et la plateforme ne peut pas héberger de données de patients réels.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46120"/>
            <a:ext cx="10698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3246120"/>
            <a:ext cx="26000" cy="658368"/>
          </a:xfrm>
          <a:prstGeom prst="rect">
            <a:avLst/>
          </a:prstGeom>
          <a:solidFill>
            <a:srgbClr val="B45F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32841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B1A2E"/>
                </a:solidFill>
                <a:latin typeface="Calibri"/>
              </a:rPr>
              <a:t>Contrôle d'accès par rôle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34670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Un technicien ne devrait pas pouvoir valider l'étape de diagnostic. Le modèle est prêt à recevoir cette distinction.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977640"/>
            <a:ext cx="10698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3977640"/>
            <a:ext cx="26000" cy="658368"/>
          </a:xfrm>
          <a:prstGeom prst="rect">
            <a:avLst/>
          </a:prstGeom>
          <a:solidFill>
            <a:srgbClr val="B45F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0599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B1A2E"/>
                </a:solidFill>
                <a:latin typeface="Calibri"/>
              </a:rPr>
              <a:t>Validation des champs côté serveur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07822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La structure est en place et la validation par étape fonctionne ; le contrôle champ par champ contre le schéma reste à brancher.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709160"/>
            <a:ext cx="10698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4709160"/>
            <a:ext cx="26000" cy="658368"/>
          </a:xfrm>
          <a:prstGeom prst="rect">
            <a:avLst/>
          </a:prstGeom>
          <a:solidFill>
            <a:srgbClr val="B45F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479145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B1A2E"/>
                </a:solidFill>
                <a:latin typeface="Calibri"/>
              </a:rPr>
              <a:t>Protection des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80974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Les tuiles sont servies sans contrôle d'accès. Un contrôle par dossier est nécessaire avant tout usage réel.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440680"/>
            <a:ext cx="10698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5440680"/>
            <a:ext cx="26000" cy="658368"/>
          </a:xfrm>
          <a:prstGeom prst="rect">
            <a:avLst/>
          </a:prstGeom>
          <a:solidFill>
            <a:srgbClr val="B45F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552297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B1A2E"/>
                </a:solidFill>
                <a:latin typeface="Calibri"/>
              </a:rPr>
              <a:t>Chiffrement des échanges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5412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4A4762"/>
                </a:solidFill>
                <a:latin typeface="Calibri"/>
              </a:rPr>
              <a:t>Les services communiquent en clair au sein du réseau conteneurisé, ce qui convient au développement mais pas au déploiement.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B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B8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3280" y="356540"/>
            <a:ext cx="10789920" cy="581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lang="fr-FR" sz="1100" b="1" dirty="0">
                <a:solidFill>
                  <a:srgbClr val="B84A72"/>
                </a:solidFill>
                <a:latin typeface="Calibri"/>
              </a:rPr>
              <a:t>CONCLUSION</a:t>
            </a:r>
            <a:endParaRPr sz="1100" b="1" dirty="0">
              <a:solidFill>
                <a:srgbClr val="B84A72"/>
              </a:solidFill>
              <a:latin typeface="Calibri"/>
            </a:endParaRP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lang="fr-FR" sz="2700" b="1" dirty="0">
                <a:solidFill>
                  <a:srgbClr val="1B1A2E"/>
                </a:solidFill>
                <a:latin typeface="Calibri"/>
              </a:rPr>
              <a:t>Vers une pathologie augmentée</a:t>
            </a:r>
            <a:endParaRPr sz="2700" b="1" dirty="0">
              <a:solidFill>
                <a:srgbClr val="1B1A2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B7893"/>
                </a:solidFill>
                <a:latin typeface="Calibri"/>
              </a:rPr>
              <a:t>WiGo — SAÉ 5.Real.01 —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B7893"/>
                </a:solidFill>
                <a:latin typeface="Calibri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1891" y="1762341"/>
            <a:ext cx="96301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51891" y="1762341"/>
            <a:ext cx="22000" cy="45720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51891" y="2386765"/>
            <a:ext cx="96301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51891" y="2386765"/>
            <a:ext cx="22000" cy="45720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2191" y="2411703"/>
            <a:ext cx="9559868" cy="242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1000"/>
              </a:lnSpc>
            </a:pPr>
            <a:r>
              <a:rPr lang="en-US" sz="1400" dirty="0" err="1"/>
              <a:t>Fluidité</a:t>
            </a:r>
            <a:r>
              <a:rPr lang="en-US" sz="1400" dirty="0"/>
              <a:t> </a:t>
            </a:r>
            <a:r>
              <a:rPr lang="en-US" sz="1400" dirty="0" err="1"/>
              <a:t>totale</a:t>
            </a:r>
            <a:r>
              <a:rPr lang="en-US" sz="1400" dirty="0"/>
              <a:t> sur des images </a:t>
            </a:r>
            <a:r>
              <a:rPr lang="en-US" sz="1400" dirty="0" err="1"/>
              <a:t>massives</a:t>
            </a:r>
            <a:r>
              <a:rPr lang="en-US" sz="1400" dirty="0"/>
              <a:t> grâce à la conversion SVS vers DZI et </a:t>
            </a:r>
            <a:r>
              <a:rPr lang="en-US" sz="1400" dirty="0" err="1"/>
              <a:t>l'optimisation</a:t>
            </a:r>
            <a:r>
              <a:rPr lang="en-US" sz="1400" dirty="0"/>
              <a:t> du </a:t>
            </a:r>
            <a:r>
              <a:rPr lang="en-US" sz="1400" dirty="0" err="1"/>
              <a:t>visualiseur</a:t>
            </a:r>
            <a:r>
              <a:rPr lang="en-US" sz="1400" dirty="0"/>
              <a:t> </a:t>
            </a:r>
            <a:r>
              <a:rPr lang="en-US" sz="1400" dirty="0" err="1"/>
              <a:t>OpenSeadragon</a:t>
            </a:r>
            <a:r>
              <a:rPr lang="en-US" sz="1400" dirty="0"/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45766" y="3026955"/>
            <a:ext cx="96301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45766" y="3026955"/>
            <a:ext cx="22000" cy="45720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16066" y="3063531"/>
            <a:ext cx="9559868" cy="242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1000"/>
              </a:lnSpc>
            </a:pPr>
            <a:r>
              <a:rPr lang="en-US" sz="1400" dirty="0" err="1"/>
              <a:t>Intégration</a:t>
            </a:r>
            <a:r>
              <a:rPr lang="en-US" sz="1400" dirty="0"/>
              <a:t> </a:t>
            </a:r>
            <a:r>
              <a:rPr lang="en-US" sz="1400" dirty="0" err="1"/>
              <a:t>réussie</a:t>
            </a:r>
            <a:r>
              <a:rPr lang="en-US" sz="1400" dirty="0"/>
              <a:t> des </a:t>
            </a:r>
            <a:r>
              <a:rPr lang="en-US" sz="1400" dirty="0" err="1"/>
              <a:t>contraintes</a:t>
            </a:r>
            <a:r>
              <a:rPr lang="en-US" sz="1400" dirty="0"/>
              <a:t> critiques de sécurité des données de santé et de </a:t>
            </a:r>
            <a:r>
              <a:rPr lang="en-US" sz="1400" dirty="0" err="1"/>
              <a:t>l'ergonomie</a:t>
            </a:r>
            <a:r>
              <a:rPr lang="en-US" sz="1400" dirty="0"/>
              <a:t> </a:t>
            </a:r>
            <a:r>
              <a:rPr lang="en-US" sz="1400" dirty="0" err="1"/>
              <a:t>spécifique</a:t>
            </a:r>
            <a:r>
              <a:rPr lang="en-US" sz="1400" dirty="0"/>
              <a:t> au </a:t>
            </a:r>
            <a:r>
              <a:rPr lang="en-US" sz="1400" dirty="0" err="1"/>
              <a:t>domaine</a:t>
            </a:r>
            <a:r>
              <a:rPr lang="en-US" sz="1400" dirty="0"/>
              <a:t> </a:t>
            </a:r>
            <a:r>
              <a:rPr lang="en-US" sz="1400" dirty="0" err="1"/>
              <a:t>médical</a:t>
            </a:r>
            <a:r>
              <a:rPr lang="en-US" sz="1400" dirty="0"/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45766" y="3721498"/>
            <a:ext cx="96301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45766" y="3721498"/>
            <a:ext cx="22000" cy="457200"/>
          </a:xfrm>
          <a:prstGeom prst="rect">
            <a:avLst/>
          </a:prstGeom>
          <a:solidFill>
            <a:srgbClr val="4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16066" y="3750099"/>
            <a:ext cx="9559868" cy="277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1000"/>
              </a:lnSpc>
            </a:pPr>
            <a:r>
              <a:rPr lang="en-US" sz="1600" dirty="0"/>
              <a:t>Application </a:t>
            </a:r>
            <a:r>
              <a:rPr lang="en-US" sz="1600" dirty="0" err="1"/>
              <a:t>rigoureuse</a:t>
            </a:r>
            <a:r>
              <a:rPr lang="en-US" sz="1600" dirty="0"/>
              <a:t> des </a:t>
            </a:r>
            <a:r>
              <a:rPr lang="en-US" sz="1600" dirty="0" err="1"/>
              <a:t>méthodes</a:t>
            </a:r>
            <a:r>
              <a:rPr lang="en-US" sz="1600" dirty="0"/>
              <a:t> </a:t>
            </a:r>
            <a:r>
              <a:rPr lang="en-US" sz="1600" dirty="0" err="1"/>
              <a:t>Agiles</a:t>
            </a:r>
            <a:r>
              <a:rPr lang="en-US" sz="1600" dirty="0"/>
              <a:t> avec un </a:t>
            </a:r>
            <a:r>
              <a:rPr lang="en-US" sz="1600" dirty="0" err="1"/>
              <a:t>suivi</a:t>
            </a:r>
            <a:r>
              <a:rPr lang="en-US" sz="1600" dirty="0"/>
              <a:t> des versions et des tickets via Git et GitHub.</a:t>
            </a:r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9825A267-E518-5CF4-D245-D14D3E3B919E}"/>
              </a:ext>
            </a:extLst>
          </p:cNvPr>
          <p:cNvSpPr/>
          <p:nvPr/>
        </p:nvSpPr>
        <p:spPr>
          <a:xfrm>
            <a:off x="1322191" y="1800171"/>
            <a:ext cx="9832094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1000"/>
              </a:lnSpc>
              <a:buNone/>
            </a:pPr>
            <a:r>
              <a:rPr lang="en-US" sz="1600" dirty="0"/>
              <a:t>Création, gestion et orchestration d'un écosystème micro-services </a:t>
            </a:r>
            <a:r>
              <a:rPr lang="en-US" sz="1600" dirty="0" err="1"/>
              <a:t>complexe</a:t>
            </a:r>
            <a:r>
              <a:rPr lang="en-US" sz="1600" dirty="0"/>
              <a:t> 100% fonctionnel via Docker et </a:t>
            </a:r>
            <a:r>
              <a:rPr lang="en-US" sz="1600" dirty="0" err="1"/>
              <a:t>MinIO</a:t>
            </a:r>
            <a:r>
              <a:rPr lang="en-US" sz="1600" dirty="0"/>
              <a:t>.</a:t>
            </a:r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8BACECE6-C8F5-1D3C-9A9C-128F678A65C5}"/>
              </a:ext>
            </a:extLst>
          </p:cNvPr>
          <p:cNvSpPr/>
          <p:nvPr/>
        </p:nvSpPr>
        <p:spPr>
          <a:xfrm>
            <a:off x="1163696" y="4494878"/>
            <a:ext cx="9718363" cy="719404"/>
          </a:xfrm>
          <a:prstGeom prst="roundRect">
            <a:avLst>
              <a:gd name="adj" fmla="val 3036"/>
            </a:avLst>
          </a:prstGeom>
          <a:solidFill>
            <a:srgbClr val="0028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5ABAE26D-C630-D889-E6FE-34ADDBD70F74}"/>
              </a:ext>
            </a:extLst>
          </p:cNvPr>
          <p:cNvSpPr/>
          <p:nvPr/>
        </p:nvSpPr>
        <p:spPr>
          <a:xfrm>
            <a:off x="1281726" y="4645901"/>
            <a:ext cx="9608168" cy="719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WiGo</a:t>
            </a:r>
            <a:r>
              <a:rPr lang="en-US" sz="1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représente une avancée concrète vers une pathologie numérique augmentée, alliant performance technique, sécurité des données et ergonomie </a:t>
            </a:r>
            <a:r>
              <a:rPr lang="en-US" sz="1200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médicale</a:t>
            </a:r>
            <a:r>
              <a:rPr lang="en-US" sz="1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2194</Words>
  <Application>Microsoft Office PowerPoint</Application>
  <PresentationFormat>Grand écran</PresentationFormat>
  <Paragraphs>361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Noto Sans</vt:lpstr>
      <vt:lpstr>Noto Sans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William Gueux</cp:lastModifiedBy>
  <cp:revision>2</cp:revision>
  <dcterms:created xsi:type="dcterms:W3CDTF">2013-01-27T09:14:16Z</dcterms:created>
  <dcterms:modified xsi:type="dcterms:W3CDTF">2026-08-27T21:08:53Z</dcterms:modified>
  <cp:category/>
</cp:coreProperties>
</file>